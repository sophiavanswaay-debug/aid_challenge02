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93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66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60120" y="1188720"/>
            <a:ext cx="8778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960120" y="16642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Agata Granosik &amp; Sarah Müller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60120" y="11887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2: Sound Locator 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148840"/>
            <a:ext cx="6172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</a:rPr>
              <a:t>Setup addressed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Sensory Substitution: </a:t>
            </a:r>
            <a:r>
              <a:rPr lang="en-US" sz="1200" b="1" dirty="0">
                <a:solidFill>
                  <a:srgbClr val="000000"/>
                </a:solidFill>
              </a:rPr>
              <a:t>Hearing → Vision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Mapping type: </a:t>
            </a:r>
            <a:r>
              <a:rPr lang="en-US" sz="1200" b="1" dirty="0">
                <a:solidFill>
                  <a:srgbClr val="000000"/>
                </a:solidFill>
              </a:rPr>
              <a:t>Topographic + Parametric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</a:rPr>
              <a:t>Topographic (place → place):</a:t>
            </a:r>
            <a:r>
              <a:rPr lang="en-US" sz="1200" dirty="0">
                <a:solidFill>
                  <a:srgbClr val="000000"/>
                </a:solidFill>
              </a:rPr>
              <a:t> the direction of the sound is shown at the same place on the LED bar. Sound from the left → left LED, from the front → middle LED, from the right → right LED.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</a:rPr>
              <a:t>Parametric (feature → parameter):</a:t>
            </a:r>
            <a:r>
              <a:rPr lang="en-US" sz="1200" dirty="0">
                <a:solidFill>
                  <a:srgbClr val="000000"/>
                </a:solidFill>
              </a:rPr>
              <a:t> we measure one number, the </a:t>
            </a:r>
            <a:r>
              <a:rPr lang="en-US" sz="1200" b="1" dirty="0">
                <a:solidFill>
                  <a:srgbClr val="000000"/>
                </a:solidFill>
              </a:rPr>
              <a:t>time difference</a:t>
            </a:r>
            <a:r>
              <a:rPr lang="en-US" sz="1200" dirty="0">
                <a:solidFill>
                  <a:srgbClr val="000000"/>
                </a:solidFill>
              </a:rPr>
              <a:t> between the two microphones. We turn this number into the </a:t>
            </a:r>
            <a:r>
              <a:rPr lang="en-US" sz="1200" b="1" dirty="0">
                <a:solidFill>
                  <a:srgbClr val="000000"/>
                </a:solidFill>
              </a:rPr>
              <a:t>position of the LED</a:t>
            </a:r>
            <a:r>
              <a:rPr lang="en-US" sz="1200" dirty="0">
                <a:solidFill>
                  <a:srgbClr val="000000"/>
                </a:solidFill>
              </a:rPr>
              <a:t>.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</a:rPr>
              <a:t>Idea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Deaf people can’t hear </a:t>
            </a:r>
            <a:r>
              <a:rPr lang="en-US" sz="1200" b="1" dirty="0">
                <a:solidFill>
                  <a:srgbClr val="000000"/>
                </a:solidFill>
              </a:rPr>
              <a:t>where a sound comes from</a:t>
            </a:r>
            <a:r>
              <a:rPr lang="en-US" sz="1200" dirty="0">
                <a:solidFill>
                  <a:srgbClr val="000000"/>
                </a:solidFill>
              </a:rPr>
              <a:t> (a door, a person calling, a car).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We hear direction with two ears: the sound reaches the closer ear </a:t>
            </a:r>
            <a:r>
              <a:rPr lang="en-US" sz="1200" b="1" dirty="0">
                <a:solidFill>
                  <a:srgbClr val="000000"/>
                </a:solidFill>
              </a:rPr>
              <a:t>first</a:t>
            </a:r>
            <a:r>
              <a:rPr lang="en-US" sz="1200" dirty="0">
                <a:solidFill>
                  <a:srgbClr val="000000"/>
                </a:solidFill>
              </a:rPr>
              <a:t>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We copied this with </a:t>
            </a:r>
            <a:r>
              <a:rPr lang="en-US" sz="1200" b="1" dirty="0">
                <a:solidFill>
                  <a:srgbClr val="000000"/>
                </a:solidFill>
              </a:rPr>
              <a:t>two microphones as “ears”</a:t>
            </a:r>
            <a:r>
              <a:rPr lang="en-US" sz="1200" dirty="0">
                <a:solidFill>
                  <a:srgbClr val="000000"/>
                </a:solidFill>
              </a:rPr>
              <a:t> and show the direction with light.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</a:rPr>
              <a:t>Tools used: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Arduino Uno + Grove Base Shield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2 digital sound sensors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Grove LED Bar v2.0 (10 LEDs)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Arduino IDE + Serial Monitor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Grove LED Bar library (Seeed Studio)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0" y="2148840"/>
            <a:ext cx="2514600" cy="214884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 txBox="1"/>
          <p:nvPr/>
        </p:nvSpPr>
        <p:spPr>
          <a:xfrm>
            <a:off x="7424928" y="22585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</a:rPr>
              <a:t>clap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543800" y="2468880"/>
            <a:ext cx="201168" cy="20116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959852" y="2816352"/>
            <a:ext cx="219456" cy="219456"/>
          </a:xfrm>
          <a:prstGeom prst="ellipse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7703820" y="3063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L (D3)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965692" y="2816352"/>
            <a:ext cx="219456" cy="219456"/>
          </a:xfrm>
          <a:prstGeom prst="ellipse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8709660" y="3063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R (D2)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44968" y="2606040"/>
            <a:ext cx="205740" cy="320040"/>
          </a:xfrm>
          <a:prstGeom prst="line">
            <a:avLst/>
          </a:prstGeom>
          <a:noFill/>
          <a:ln w="1587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7744968" y="2606040"/>
            <a:ext cx="1211580" cy="320040"/>
          </a:xfrm>
          <a:prstGeom prst="line">
            <a:avLst/>
          </a:prstGeom>
          <a:noFill/>
          <a:ln w="1587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8298180" y="28437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7F7F"/>
                </a:solidFill>
              </a:rPr>
              <a:t>16 cm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3101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6A9E"/>
                </a:solidFill>
              </a:rPr>
              <a:t>Δt → angle → LED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16368" y="3584448"/>
            <a:ext cx="2112264" cy="384048"/>
          </a:xfrm>
          <a:prstGeom prst="roundRect">
            <a:avLst>
              <a:gd name="adj" fmla="val 11905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7589520" y="3657600"/>
            <a:ext cx="155448" cy="237744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7790688" y="3657600"/>
            <a:ext cx="155448" cy="23774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7991856" y="3657600"/>
            <a:ext cx="155448" cy="237744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8193024" y="3657600"/>
            <a:ext cx="155448" cy="237744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8394192" y="3657600"/>
            <a:ext cx="155448" cy="237744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8595360" y="3657600"/>
            <a:ext cx="155448" cy="237744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8796528" y="3657600"/>
            <a:ext cx="155448" cy="237744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8997696" y="3657600"/>
            <a:ext cx="155448" cy="237744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9198864" y="3657600"/>
            <a:ext cx="155448" cy="237744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9400032" y="3657600"/>
            <a:ext cx="155448" cy="237744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 txBox="1"/>
          <p:nvPr/>
        </p:nvSpPr>
        <p:spPr>
          <a:xfrm>
            <a:off x="7392924" y="3986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−90°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8298180" y="3986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0°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203436" y="3986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+90°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43708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</a:rPr>
              <a:t>How the mapping works</a:t>
            </a:r>
            <a:endParaRPr lang="en-US" sz="900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D300B66-486E-731C-6A0F-62C0D3ED6636}"/>
              </a:ext>
            </a:extLst>
          </p:cNvPr>
          <p:cNvSpPr txBox="1"/>
          <p:nvPr/>
        </p:nvSpPr>
        <p:spPr>
          <a:xfrm>
            <a:off x="950278" y="1645920"/>
            <a:ext cx="8588614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100" dirty="0"/>
              <a:t>Agata </a:t>
            </a:r>
            <a:r>
              <a:rPr lang="de-DE" sz="1100" dirty="0" err="1"/>
              <a:t>Granosik</a:t>
            </a:r>
            <a:r>
              <a:rPr lang="de-DE" sz="1100" dirty="0"/>
              <a:t>, Sophia van </a:t>
            </a:r>
            <a:r>
              <a:rPr lang="de-DE" sz="1100" dirty="0" err="1"/>
              <a:t>Swaay</a:t>
            </a:r>
            <a:r>
              <a:rPr lang="de-DE" sz="1100" dirty="0"/>
              <a:t>, Yiannis Georgopoulos &amp; Sarah Müller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60120" y="11887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dirty="0"/>
              <a:t>Challenge 2: Sound Locator 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148840"/>
            <a:ext cx="6172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</a:rPr>
              <a:t>Wiring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Right microphone → D2, left microphone → D3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LED Bar → Grove port D4 (D4 = data, D5 = clock)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The microphones are </a:t>
            </a:r>
            <a:r>
              <a:rPr lang="en-US" sz="1200" b="1" dirty="0">
                <a:solidFill>
                  <a:srgbClr val="000000"/>
                </a:solidFill>
              </a:rPr>
              <a:t>16 cm apart</a:t>
            </a:r>
            <a:r>
              <a:rPr lang="en-US" sz="1200" dirty="0">
                <a:solidFill>
                  <a:srgbClr val="000000"/>
                </a:solidFill>
              </a:rPr>
              <a:t>, like two ears.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</a:rPr>
              <a:t>Finding the direction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 sound from the side reaches the closer microphone first. The </a:t>
            </a:r>
            <a:r>
              <a:rPr lang="en-US" sz="1200" b="1" dirty="0">
                <a:solidFill>
                  <a:srgbClr val="000000"/>
                </a:solidFill>
              </a:rPr>
              <a:t>time difference</a:t>
            </a:r>
            <a:r>
              <a:rPr lang="en-US" sz="1200" dirty="0">
                <a:solidFill>
                  <a:srgbClr val="000000"/>
                </a:solidFill>
              </a:rPr>
              <a:t> tells us where the sound comes from.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The code turns this time difference into a direction (left, front or right) and </a:t>
            </a:r>
            <a:r>
              <a:rPr lang="en-US" sz="1200" b="1" dirty="0">
                <a:solidFill>
                  <a:srgbClr val="000000"/>
                </a:solidFill>
              </a:rPr>
              <a:t>switches on the LED at that place</a:t>
            </a:r>
            <a:r>
              <a:rPr lang="en-US" sz="1200" dirty="0">
                <a:solidFill>
                  <a:srgbClr val="000000"/>
                </a:solidFill>
              </a:rPr>
              <a:t>.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</a:rPr>
              <a:t>Building it in Arduino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The time difference is very short (less than 0.5 ms). A normal </a:t>
            </a:r>
            <a:r>
              <a:rPr lang="en-US" sz="1200" dirty="0">
                <a:solidFill>
                  <a:srgbClr val="1F6A9E"/>
                </a:solidFill>
              </a:rPr>
              <a:t>loop()</a:t>
            </a:r>
            <a:r>
              <a:rPr lang="en-US" sz="1200" dirty="0">
                <a:solidFill>
                  <a:srgbClr val="000000"/>
                </a:solidFill>
              </a:rPr>
              <a:t> is too slow to measure this.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So we used </a:t>
            </a:r>
            <a:r>
              <a:rPr lang="en-US" sz="1200" b="1" dirty="0">
                <a:solidFill>
                  <a:srgbClr val="000000"/>
                </a:solidFill>
              </a:rPr>
              <a:t>interrupts</a:t>
            </a:r>
            <a:r>
              <a:rPr lang="en-US" sz="1200" dirty="0">
                <a:solidFill>
                  <a:srgbClr val="000000"/>
                </a:solidFill>
              </a:rPr>
              <a:t>: </a:t>
            </a:r>
            <a:r>
              <a:rPr lang="en-US" sz="1200" dirty="0">
                <a:solidFill>
                  <a:srgbClr val="1F6A9E"/>
                </a:solidFill>
              </a:rPr>
              <a:t>attachInterrupt()</a:t>
            </a:r>
            <a:r>
              <a:rPr lang="en-US" sz="1200" dirty="0">
                <a:solidFill>
                  <a:srgbClr val="000000"/>
                </a:solidFill>
              </a:rPr>
              <a:t> reacts </a:t>
            </a:r>
            <a:r>
              <a:rPr lang="en-US" sz="1200" b="1" dirty="0">
                <a:solidFill>
                  <a:srgbClr val="000000"/>
                </a:solidFill>
              </a:rPr>
              <a:t>at the exact moment</a:t>
            </a:r>
            <a:r>
              <a:rPr lang="en-US" sz="1200" dirty="0">
                <a:solidFill>
                  <a:srgbClr val="000000"/>
                </a:solidFill>
              </a:rPr>
              <a:t> a microphone hears a sound.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D2 and D3 are the only two interrupt pins on the Arduino Uno. That’s why the microphones are connected there.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Each microphone saves its time with </a:t>
            </a:r>
            <a:r>
              <a:rPr lang="en-US" sz="1200" dirty="0">
                <a:solidFill>
                  <a:srgbClr val="1F6A9E"/>
                </a:solidFill>
              </a:rPr>
              <a:t>micros()</a:t>
            </a:r>
            <a:r>
              <a:rPr lang="en-US" sz="1200" dirty="0">
                <a:solidFill>
                  <a:srgbClr val="000000"/>
                </a:solidFill>
              </a:rPr>
              <a:t> (time in microseconds since the Arduino started).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259525" y="50932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</a:rPr>
              <a:t>Our setup</a:t>
            </a:r>
            <a:endParaRPr lang="en-US" sz="9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4D613F8-7C28-1457-5DFD-777FD0A700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13" r="11191"/>
          <a:stretch>
            <a:fillRect/>
          </a:stretch>
        </p:blipFill>
        <p:spPr>
          <a:xfrm>
            <a:off x="7259525" y="2260131"/>
            <a:ext cx="2625950" cy="267606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072EFFA-B517-61E7-10FC-B43CDF1A92AD}"/>
              </a:ext>
            </a:extLst>
          </p:cNvPr>
          <p:cNvSpPr txBox="1"/>
          <p:nvPr/>
        </p:nvSpPr>
        <p:spPr>
          <a:xfrm>
            <a:off x="950278" y="1645920"/>
            <a:ext cx="8588614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100" dirty="0"/>
              <a:t>Agata </a:t>
            </a:r>
            <a:r>
              <a:rPr lang="de-DE" sz="1100" dirty="0" err="1"/>
              <a:t>Granosik</a:t>
            </a:r>
            <a:r>
              <a:rPr lang="de-DE" sz="1100" dirty="0"/>
              <a:t>, Sophia van </a:t>
            </a:r>
            <a:r>
              <a:rPr lang="de-DE" sz="1100" dirty="0" err="1"/>
              <a:t>Swaay</a:t>
            </a:r>
            <a:r>
              <a:rPr lang="de-DE" sz="1100" dirty="0"/>
              <a:t>, Yiannis Georgopoulos &amp; Sarah Müller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60120" y="11887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dirty="0"/>
              <a:t>Challenge 2: Sound Locator 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2148840"/>
            <a:ext cx="61722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</a:rPr>
              <a:t>Calculating the direction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When both microphones hear the sound, we calculate the time difference </a:t>
            </a:r>
            <a:r>
              <a:rPr lang="en-US" sz="1200" dirty="0">
                <a:solidFill>
                  <a:srgbClr val="1F6A9E"/>
                </a:solidFill>
              </a:rPr>
              <a:t>dt = tLeft − tRight</a:t>
            </a:r>
            <a:r>
              <a:rPr lang="en-US" sz="1200" dirty="0">
                <a:solidFill>
                  <a:srgbClr val="000000"/>
                </a:solidFill>
              </a:rPr>
              <a:t>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We turn </a:t>
            </a:r>
            <a:r>
              <a:rPr lang="en-US" sz="1200" dirty="0">
                <a:solidFill>
                  <a:srgbClr val="1F6A9E"/>
                </a:solidFill>
              </a:rPr>
              <a:t>dt</a:t>
            </a:r>
            <a:r>
              <a:rPr lang="en-US" sz="1200" dirty="0">
                <a:solidFill>
                  <a:srgbClr val="000000"/>
                </a:solidFill>
              </a:rPr>
              <a:t> into an angle with </a:t>
            </a:r>
            <a:r>
              <a:rPr lang="en-US" sz="1200" dirty="0">
                <a:solidFill>
                  <a:srgbClr val="1F6A9E"/>
                </a:solidFill>
              </a:rPr>
              <a:t>asin()</a:t>
            </a:r>
            <a:r>
              <a:rPr lang="en-US" sz="1200" dirty="0">
                <a:solidFill>
                  <a:srgbClr val="000000"/>
                </a:solidFill>
              </a:rPr>
              <a:t>, and the angle into an LED number from 0 to 9.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If only one microphone hears the sound, the sound comes </a:t>
            </a:r>
            <a:r>
              <a:rPr lang="en-US" sz="1200" b="1" dirty="0">
                <a:solidFill>
                  <a:srgbClr val="000000"/>
                </a:solidFill>
              </a:rPr>
              <a:t>from that side</a:t>
            </a:r>
            <a:r>
              <a:rPr lang="en-US" sz="1200" dirty="0">
                <a:solidFill>
                  <a:srgbClr val="000000"/>
                </a:solidFill>
              </a:rPr>
              <a:t>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If the time difference is too big to be real, we </a:t>
            </a:r>
            <a:r>
              <a:rPr lang="en-US" sz="1200" b="1" dirty="0">
                <a:solidFill>
                  <a:srgbClr val="000000"/>
                </a:solidFill>
              </a:rPr>
              <a:t>ignore it</a:t>
            </a:r>
            <a:r>
              <a:rPr lang="en-US" sz="1200" dirty="0">
                <a:solidFill>
                  <a:srgbClr val="000000"/>
                </a:solidFill>
              </a:rPr>
              <a:t> (noise).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</a:rPr>
              <a:t>Making it stable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After every sound we wait 120 ms (</a:t>
            </a:r>
            <a:r>
              <a:rPr lang="en-US" sz="1200" dirty="0">
                <a:solidFill>
                  <a:srgbClr val="1F6A9E"/>
                </a:solidFill>
              </a:rPr>
              <a:t>REARM_MS</a:t>
            </a:r>
            <a:r>
              <a:rPr lang="en-US" sz="1200" dirty="0">
                <a:solidFill>
                  <a:srgbClr val="000000"/>
                </a:solidFill>
              </a:rPr>
              <a:t>), so </a:t>
            </a:r>
            <a:r>
              <a:rPr lang="en-US" sz="1200" b="1" dirty="0">
                <a:solidFill>
                  <a:srgbClr val="000000"/>
                </a:solidFill>
              </a:rPr>
              <a:t>echoes don’t count as new sounds</a:t>
            </a:r>
            <a:r>
              <a:rPr lang="en-US" sz="1200" dirty="0">
                <a:solidFill>
                  <a:srgbClr val="000000"/>
                </a:solidFill>
              </a:rPr>
              <a:t>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Sounds that come quickly one after another are averaged (</a:t>
            </a:r>
            <a:r>
              <a:rPr lang="en-US" sz="1200" dirty="0">
                <a:solidFill>
                  <a:srgbClr val="1F6A9E"/>
                </a:solidFill>
              </a:rPr>
              <a:t>SMOOTHING</a:t>
            </a:r>
            <a:r>
              <a:rPr lang="en-US" sz="1200" dirty="0">
                <a:solidFill>
                  <a:srgbClr val="000000"/>
                </a:solidFill>
              </a:rPr>
              <a:t>), so the LED </a:t>
            </a:r>
            <a:r>
              <a:rPr lang="en-US" sz="1200" b="1" dirty="0">
                <a:solidFill>
                  <a:srgbClr val="000000"/>
                </a:solidFill>
              </a:rPr>
              <a:t>doesn’t jump around</a:t>
            </a:r>
            <a:r>
              <a:rPr lang="en-US" sz="1200" dirty="0">
                <a:solidFill>
                  <a:srgbClr val="000000"/>
                </a:solidFill>
              </a:rPr>
              <a:t>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The LED stays on for 1.5 s (</a:t>
            </a:r>
            <a:r>
              <a:rPr lang="en-US" sz="1200" dirty="0">
                <a:solidFill>
                  <a:srgbClr val="1F6A9E"/>
                </a:solidFill>
              </a:rPr>
              <a:t>HOLD_MS</a:t>
            </a:r>
            <a:r>
              <a:rPr lang="en-US" sz="1200" dirty="0">
                <a:solidFill>
                  <a:srgbClr val="000000"/>
                </a:solidFill>
              </a:rPr>
              <a:t>) and then turns off.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At the start, the LEDs </a:t>
            </a:r>
            <a:r>
              <a:rPr lang="en-US" sz="1200" b="1" dirty="0">
                <a:solidFill>
                  <a:srgbClr val="000000"/>
                </a:solidFill>
              </a:rPr>
              <a:t>move from left to right</a:t>
            </a:r>
            <a:r>
              <a:rPr lang="en-US" sz="1200" dirty="0">
                <a:solidFill>
                  <a:srgbClr val="000000"/>
                </a:solidFill>
              </a:rPr>
              <a:t>, so the user knows which side is which.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The Serial Monitor shows </a:t>
            </a:r>
            <a:r>
              <a:rPr lang="en-US" sz="1200" dirty="0">
                <a:solidFill>
                  <a:srgbClr val="1F6A9E"/>
                </a:solidFill>
              </a:rPr>
              <a:t>dt</a:t>
            </a:r>
            <a:r>
              <a:rPr lang="en-US" sz="1200" dirty="0">
                <a:solidFill>
                  <a:srgbClr val="000000"/>
                </a:solidFill>
              </a:rPr>
              <a:t>, the angle and the LED number, so we can check the values.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</a:rPr>
              <a:t>Result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It works: when we clap on the left, in front or on the right, </a:t>
            </a:r>
            <a:r>
              <a:rPr lang="en-US" sz="1200" b="1" dirty="0">
                <a:solidFill>
                  <a:srgbClr val="000000"/>
                </a:solidFill>
              </a:rPr>
              <a:t>the correct LED lights up</a:t>
            </a:r>
            <a:r>
              <a:rPr lang="en-US" sz="1200" dirty="0">
                <a:solidFill>
                  <a:srgbClr val="000000"/>
                </a:solidFill>
              </a:rPr>
              <a:t> (see video).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It can’t tell front and back apart -&gt; same with our two  ears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856072B-1C72-D0F2-6E43-235D95F6D55F}"/>
              </a:ext>
            </a:extLst>
          </p:cNvPr>
          <p:cNvSpPr txBox="1"/>
          <p:nvPr/>
        </p:nvSpPr>
        <p:spPr>
          <a:xfrm>
            <a:off x="7383526" y="562904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</a:rPr>
              <a:t>Our setup (demo video)</a:t>
            </a:r>
            <a:endParaRPr lang="en-US" sz="9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8C73861-FA0B-02F1-96DA-35175DB1B044}"/>
              </a:ext>
            </a:extLst>
          </p:cNvPr>
          <p:cNvSpPr/>
          <p:nvPr/>
        </p:nvSpPr>
        <p:spPr>
          <a:xfrm>
            <a:off x="7426452" y="2148838"/>
            <a:ext cx="2692908" cy="329780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de-DE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CF99539-CCFB-235D-1A4E-CE3E8EF7BD9F}"/>
              </a:ext>
            </a:extLst>
          </p:cNvPr>
          <p:cNvSpPr txBox="1"/>
          <p:nvPr/>
        </p:nvSpPr>
        <p:spPr>
          <a:xfrm>
            <a:off x="7132320" y="3008085"/>
            <a:ext cx="2692908" cy="29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4157954-1C66-ABE7-D897-8EB4C84DCE68}"/>
              </a:ext>
            </a:extLst>
          </p:cNvPr>
          <p:cNvSpPr txBox="1"/>
          <p:nvPr/>
        </p:nvSpPr>
        <p:spPr>
          <a:xfrm>
            <a:off x="950278" y="1645920"/>
            <a:ext cx="8588614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100" dirty="0"/>
              <a:t>Agata </a:t>
            </a:r>
            <a:r>
              <a:rPr lang="de-DE" sz="1100" dirty="0" err="1"/>
              <a:t>Granosik</a:t>
            </a:r>
            <a:r>
              <a:rPr lang="de-DE" sz="1100" dirty="0"/>
              <a:t>, Sophia van </a:t>
            </a:r>
            <a:r>
              <a:rPr lang="de-DE" sz="1100" dirty="0" err="1"/>
              <a:t>Swaay</a:t>
            </a:r>
            <a:r>
              <a:rPr lang="de-DE" sz="1100" dirty="0"/>
              <a:t>, Yiannis Georgopoulos &amp; Sarah Müller</a:t>
            </a:r>
          </a:p>
        </p:txBody>
      </p:sp>
      <p:pic>
        <p:nvPicPr>
          <p:cNvPr id="4" name="IMG_3474_C3C60F36-5BF7-4901-B382-0DBBDE886E37.mp4">
            <a:hlinkClick r:id="" action="ppaction://media"/>
            <a:extLst>
              <a:ext uri="{FF2B5EF4-FFF2-40B4-BE49-F238E27FC236}">
                <a16:creationId xmlns:a16="http://schemas.microsoft.com/office/drawing/2014/main" id="{D55B769E-0197-6D83-9DD4-2099D1FE42C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2794" r="27063" b="19565"/>
          <a:stretch>
            <a:fillRect/>
          </a:stretch>
        </p:blipFill>
        <p:spPr>
          <a:xfrm>
            <a:off x="7373620" y="2148838"/>
            <a:ext cx="2799080" cy="33675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llenge02">
  <a:themeElements>
    <a:clrScheme name="Challenge02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1F6A9E"/>
      </a:accent1>
      <a:accent2>
        <a:srgbClr val="F2A541"/>
      </a:accent2>
      <a:accent3>
        <a:srgbClr val="7F7F7F"/>
      </a:accent3>
      <a:accent4>
        <a:srgbClr val="D9D9D9"/>
      </a:accent4>
      <a:accent5>
        <a:srgbClr val="3A3A3A"/>
      </a:accent5>
      <a:accent6>
        <a:srgbClr val="595959"/>
      </a:accent6>
      <a:hlink>
        <a:srgbClr val="1F6A9E"/>
      </a:hlink>
      <a:folHlink>
        <a:srgbClr val="595959"/>
      </a:folHlink>
    </a:clrScheme>
    <a:fontScheme name="Challenge02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649</Words>
  <Application>Microsoft Macintosh PowerPoint</Application>
  <PresentationFormat>Custom</PresentationFormat>
  <Paragraphs>61</Paragraphs>
  <Slides>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 Display</vt:lpstr>
      <vt:lpstr>Arial</vt:lpstr>
      <vt:lpstr>Challenge02</vt:lpstr>
      <vt:lpstr>Challenge 2: Sound Locator </vt:lpstr>
      <vt:lpstr>Challenge 2: Sound Locator </vt:lpstr>
      <vt:lpstr>Challenge 2: Sound Locator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 Locator</dc:title>
  <dc:subject>PptxGenJS Presentation</dc:subject>
  <dc:creator>Agata Granosik &amp; Sarah Müller</dc:creator>
  <cp:lastModifiedBy>SOPHIA VAN SWAAY PRADO SILVA</cp:lastModifiedBy>
  <cp:revision>3</cp:revision>
  <dcterms:created xsi:type="dcterms:W3CDTF">2026-10-27T01:08:49Z</dcterms:created>
  <dcterms:modified xsi:type="dcterms:W3CDTF">2026-10-27T09:04:45Z</dcterms:modified>
</cp:coreProperties>
</file>